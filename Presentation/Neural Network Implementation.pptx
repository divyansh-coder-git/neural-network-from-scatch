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8288000" cy="10287000"/>
  <p:notesSz cx="6858000" cy="9144000"/>
  <p:embeddedFontLst>
    <p:embeddedFont>
      <p:font typeface="Canva Sans Bold" charset="1" panose="020B0803030501040103"/>
      <p:regular r:id="rId26"/>
    </p:embeddedFont>
    <p:embeddedFont>
      <p:font typeface="Canva Sans" charset="1" panose="020B0503030501040103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png" Type="http://schemas.openxmlformats.org/officeDocument/2006/relationships/image"/><Relationship Id="rId4" Target="../media/image17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0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22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2696" y="866775"/>
            <a:ext cx="18265304" cy="28327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40"/>
              </a:lnSpc>
            </a:pPr>
            <a:r>
              <a:rPr lang="en-US" sz="81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Neural Network Implementation from Scratch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3683481" y="8677910"/>
            <a:ext cx="3575819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Divyansh Pandey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307959" y="2374856"/>
            <a:ext cx="9618786" cy="6883444"/>
          </a:xfrm>
          <a:custGeom>
            <a:avLst/>
            <a:gdLst/>
            <a:ahLst/>
            <a:cxnLst/>
            <a:rect r="r" b="b" t="t" l="l"/>
            <a:pathLst>
              <a:path h="6883444" w="9618786">
                <a:moveTo>
                  <a:pt x="0" y="0"/>
                </a:moveTo>
                <a:lnTo>
                  <a:pt x="9618786" y="0"/>
                </a:lnTo>
                <a:lnTo>
                  <a:pt x="9618786" y="6883444"/>
                </a:lnTo>
                <a:lnTo>
                  <a:pt x="0" y="68834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608386" y="895350"/>
            <a:ext cx="15071229" cy="1193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Dataset Structure and Input Shape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951121"/>
            <a:ext cx="5703912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sklearn.datasets.load_digits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999189"/>
            <a:ext cx="3895651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total images = 1797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5046304"/>
            <a:ext cx="6815956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With a 80-20 train-test split, 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there will be 1437 images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 training set and 360 in test set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7293569"/>
            <a:ext cx="6815956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Input dims: (1797, 64)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746883" y="2435367"/>
            <a:ext cx="9989163" cy="6811361"/>
          </a:xfrm>
          <a:custGeom>
            <a:avLst/>
            <a:gdLst/>
            <a:ahLst/>
            <a:cxnLst/>
            <a:rect r="r" b="b" t="t" l="l"/>
            <a:pathLst>
              <a:path h="6811361" w="9989163">
                <a:moveTo>
                  <a:pt x="0" y="0"/>
                </a:moveTo>
                <a:lnTo>
                  <a:pt x="9989164" y="0"/>
                </a:lnTo>
                <a:lnTo>
                  <a:pt x="9989164" y="6811361"/>
                </a:lnTo>
                <a:lnTo>
                  <a:pt x="0" y="681136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39238" y="4274503"/>
            <a:ext cx="9525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4444157" y="895350"/>
            <a:ext cx="9390162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Network Architecture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23122" y="3351588"/>
            <a:ext cx="5069904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Input ⟶ 128 ⟶ 64 ⟶ 10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23122" y="4122420"/>
            <a:ext cx="5069904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3-layer MLP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03340" y="5407343"/>
            <a:ext cx="6012731" cy="2980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Layer 0 ⟶ Input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Layer 1 ⟶ 128 units (ReLU)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Layer 2 ⟶ 64 units (ReLU)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Layer 3 ⟶ 10 units (Softmax)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                                 (Output)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252785" y="2768961"/>
            <a:ext cx="13782430" cy="4749078"/>
          </a:xfrm>
          <a:custGeom>
            <a:avLst/>
            <a:gdLst/>
            <a:ahLst/>
            <a:cxnLst/>
            <a:rect r="r" b="b" t="t" l="l"/>
            <a:pathLst>
              <a:path h="4749078" w="13782430">
                <a:moveTo>
                  <a:pt x="0" y="0"/>
                </a:moveTo>
                <a:lnTo>
                  <a:pt x="13782430" y="0"/>
                </a:lnTo>
                <a:lnTo>
                  <a:pt x="13782430" y="4749078"/>
                </a:lnTo>
                <a:lnTo>
                  <a:pt x="0" y="47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462029" y="895350"/>
            <a:ext cx="7363941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Convention used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995478" y="5143500"/>
            <a:ext cx="11978635" cy="4810775"/>
          </a:xfrm>
          <a:custGeom>
            <a:avLst/>
            <a:gdLst/>
            <a:ahLst/>
            <a:cxnLst/>
            <a:rect r="r" b="b" t="t" l="l"/>
            <a:pathLst>
              <a:path h="4810775" w="11978635">
                <a:moveTo>
                  <a:pt x="0" y="0"/>
                </a:moveTo>
                <a:lnTo>
                  <a:pt x="11978635" y="0"/>
                </a:lnTo>
                <a:lnTo>
                  <a:pt x="11978635" y="4810775"/>
                </a:lnTo>
                <a:lnTo>
                  <a:pt x="0" y="48107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80762" y="8353327"/>
            <a:ext cx="5664890" cy="1600947"/>
          </a:xfrm>
          <a:custGeom>
            <a:avLst/>
            <a:gdLst/>
            <a:ahLst/>
            <a:cxnLst/>
            <a:rect r="r" b="b" t="t" l="l"/>
            <a:pathLst>
              <a:path h="1600947" w="5664890">
                <a:moveTo>
                  <a:pt x="0" y="0"/>
                </a:moveTo>
                <a:lnTo>
                  <a:pt x="5664890" y="0"/>
                </a:lnTo>
                <a:lnTo>
                  <a:pt x="5664890" y="1600948"/>
                </a:lnTo>
                <a:lnTo>
                  <a:pt x="0" y="16009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042926" y="933450"/>
            <a:ext cx="14202147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Weights Initialization (Kaiming Initialization)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25488" y="1957297"/>
            <a:ext cx="17437024" cy="28917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6"/>
              </a:lnSpc>
            </a:pPr>
            <a:r>
              <a:rPr lang="en-US" sz="277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To solve the problem of exploding or vanishing gradients in a neural network, we use different kinds of weights intialization which tends to keep the variance of output of each layer in check by initializing the weights in such a way that the variance of ‘Z’ for each layer remains constant and Z neither explodes or vanishes. In case when we use ReLU activation, we multiply a ‘2’ with the variance, because ReLU on average zeros out half of the inputs, which further pushes down the variance by a factor of two. To compensate this, the 2 is multiplied. Without this 2, it is called ‘Xavier’s initialization’.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36530" y="5165329"/>
            <a:ext cx="5609122" cy="2957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To achieve that, we choose the weights randomly from standard</a:t>
            </a:r>
          </a:p>
          <a:p>
            <a:pPr algn="l">
              <a:lnSpc>
                <a:spcPts val="3920"/>
              </a:lnSpc>
            </a:pPr>
            <a:r>
              <a:rPr lang="en-US" sz="2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normal distribution and product </a:t>
            </a:r>
          </a:p>
          <a:p>
            <a:pPr algn="l">
              <a:lnSpc>
                <a:spcPts val="3920"/>
              </a:lnSpc>
            </a:pPr>
            <a:r>
              <a:rPr lang="en-US" sz="2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them with required variance, which helps us to choose weights with specific variance.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796010" y="7228522"/>
            <a:ext cx="3669030" cy="193358"/>
            <a:chOff x="0" y="0"/>
            <a:chExt cx="4892040" cy="25781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50681" y="50800"/>
              <a:ext cx="4789430" cy="183312"/>
            </a:xfrm>
            <a:custGeom>
              <a:avLst/>
              <a:gdLst/>
              <a:ahLst/>
              <a:cxnLst/>
              <a:rect r="r" b="b" t="t" l="l"/>
              <a:pathLst>
                <a:path h="183312" w="4789430">
                  <a:moveTo>
                    <a:pt x="25519" y="0"/>
                  </a:moveTo>
                  <a:cubicBezTo>
                    <a:pt x="985639" y="6350"/>
                    <a:pt x="998339" y="19050"/>
                    <a:pt x="1052949" y="24130"/>
                  </a:cubicBezTo>
                  <a:cubicBezTo>
                    <a:pt x="1145659" y="33020"/>
                    <a:pt x="1347589" y="19050"/>
                    <a:pt x="1425059" y="26670"/>
                  </a:cubicBezTo>
                  <a:cubicBezTo>
                    <a:pt x="1460619" y="30480"/>
                    <a:pt x="1466969" y="38100"/>
                    <a:pt x="1503799" y="41910"/>
                  </a:cubicBezTo>
                  <a:cubicBezTo>
                    <a:pt x="1578729" y="50800"/>
                    <a:pt x="1728589" y="44450"/>
                    <a:pt x="1863209" y="53340"/>
                  </a:cubicBezTo>
                  <a:cubicBezTo>
                    <a:pt x="2033389" y="63500"/>
                    <a:pt x="2183249" y="92710"/>
                    <a:pt x="2441059" y="104140"/>
                  </a:cubicBezTo>
                  <a:cubicBezTo>
                    <a:pt x="2955409" y="128270"/>
                    <a:pt x="4629269" y="72390"/>
                    <a:pt x="4763889" y="105410"/>
                  </a:cubicBezTo>
                  <a:cubicBezTo>
                    <a:pt x="4777859" y="109220"/>
                    <a:pt x="4780399" y="110490"/>
                    <a:pt x="4785479" y="116840"/>
                  </a:cubicBezTo>
                  <a:cubicBezTo>
                    <a:pt x="4789289" y="121920"/>
                    <a:pt x="4790559" y="133350"/>
                    <a:pt x="4788019" y="139700"/>
                  </a:cubicBezTo>
                  <a:cubicBezTo>
                    <a:pt x="4785479" y="147320"/>
                    <a:pt x="4776589" y="153670"/>
                    <a:pt x="4768969" y="156210"/>
                  </a:cubicBezTo>
                  <a:cubicBezTo>
                    <a:pt x="4762619" y="157480"/>
                    <a:pt x="4751189" y="153670"/>
                    <a:pt x="4746109" y="149860"/>
                  </a:cubicBezTo>
                  <a:cubicBezTo>
                    <a:pt x="4741029" y="144780"/>
                    <a:pt x="4737219" y="133350"/>
                    <a:pt x="4738489" y="127000"/>
                  </a:cubicBezTo>
                  <a:cubicBezTo>
                    <a:pt x="4739759" y="119380"/>
                    <a:pt x="4747379" y="110490"/>
                    <a:pt x="4753729" y="107950"/>
                  </a:cubicBezTo>
                  <a:cubicBezTo>
                    <a:pt x="4760079" y="105410"/>
                    <a:pt x="4771509" y="105410"/>
                    <a:pt x="4776589" y="109220"/>
                  </a:cubicBezTo>
                  <a:cubicBezTo>
                    <a:pt x="4782939" y="113030"/>
                    <a:pt x="4790559" y="121920"/>
                    <a:pt x="4789289" y="129540"/>
                  </a:cubicBezTo>
                  <a:cubicBezTo>
                    <a:pt x="4788019" y="138430"/>
                    <a:pt x="4781669" y="148590"/>
                    <a:pt x="4763889" y="156210"/>
                  </a:cubicBezTo>
                  <a:cubicBezTo>
                    <a:pt x="4626729" y="215900"/>
                    <a:pt x="3100189" y="158750"/>
                    <a:pt x="2689979" y="156210"/>
                  </a:cubicBezTo>
                  <a:cubicBezTo>
                    <a:pt x="2517259" y="154940"/>
                    <a:pt x="2449949" y="158750"/>
                    <a:pt x="2320409" y="151130"/>
                  </a:cubicBezTo>
                  <a:cubicBezTo>
                    <a:pt x="2175629" y="142240"/>
                    <a:pt x="1996559" y="111760"/>
                    <a:pt x="1863209" y="104140"/>
                  </a:cubicBezTo>
                  <a:cubicBezTo>
                    <a:pt x="1759069" y="97790"/>
                    <a:pt x="1667629" y="104140"/>
                    <a:pt x="1587619" y="99060"/>
                  </a:cubicBezTo>
                  <a:cubicBezTo>
                    <a:pt x="1526659" y="93980"/>
                    <a:pt x="1491099" y="81280"/>
                    <a:pt x="1425059" y="77470"/>
                  </a:cubicBezTo>
                  <a:cubicBezTo>
                    <a:pt x="1325999" y="69850"/>
                    <a:pt x="1141849" y="83820"/>
                    <a:pt x="1049139" y="74930"/>
                  </a:cubicBezTo>
                  <a:cubicBezTo>
                    <a:pt x="995799" y="69850"/>
                    <a:pt x="984369" y="57150"/>
                    <a:pt x="922139" y="50800"/>
                  </a:cubicBezTo>
                  <a:cubicBezTo>
                    <a:pt x="758309" y="35560"/>
                    <a:pt x="110609" y="88900"/>
                    <a:pt x="25519" y="50800"/>
                  </a:cubicBezTo>
                  <a:cubicBezTo>
                    <a:pt x="7739" y="43180"/>
                    <a:pt x="-1151" y="31750"/>
                    <a:pt x="119" y="22860"/>
                  </a:cubicBezTo>
                  <a:cubicBezTo>
                    <a:pt x="119" y="13970"/>
                    <a:pt x="25519" y="0"/>
                    <a:pt x="25519" y="0"/>
                  </a:cubicBezTo>
                </a:path>
              </a:pathLst>
            </a:custGeom>
            <a:solidFill>
              <a:srgbClr val="0571D3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2512040" y="8314372"/>
            <a:ext cx="2977515" cy="233362"/>
            <a:chOff x="0" y="0"/>
            <a:chExt cx="3970020" cy="31115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50800" y="47318"/>
              <a:ext cx="3868560" cy="238089"/>
            </a:xfrm>
            <a:custGeom>
              <a:avLst/>
              <a:gdLst/>
              <a:ahLst/>
              <a:cxnLst/>
              <a:rect r="r" b="b" t="t" l="l"/>
              <a:pathLst>
                <a:path h="238089" w="3868560">
                  <a:moveTo>
                    <a:pt x="25400" y="162232"/>
                  </a:moveTo>
                  <a:cubicBezTo>
                    <a:pt x="1389380" y="155882"/>
                    <a:pt x="1403350" y="144452"/>
                    <a:pt x="1452880" y="140642"/>
                  </a:cubicBezTo>
                  <a:cubicBezTo>
                    <a:pt x="1517650" y="134292"/>
                    <a:pt x="1605280" y="140642"/>
                    <a:pt x="1682750" y="135562"/>
                  </a:cubicBezTo>
                  <a:cubicBezTo>
                    <a:pt x="1762760" y="130482"/>
                    <a:pt x="1845310" y="121592"/>
                    <a:pt x="1925320" y="110162"/>
                  </a:cubicBezTo>
                  <a:cubicBezTo>
                    <a:pt x="2002790" y="97462"/>
                    <a:pt x="2076450" y="70792"/>
                    <a:pt x="2153920" y="61902"/>
                  </a:cubicBezTo>
                  <a:cubicBezTo>
                    <a:pt x="2232660" y="53012"/>
                    <a:pt x="2325370" y="63172"/>
                    <a:pt x="2393950" y="56822"/>
                  </a:cubicBezTo>
                  <a:cubicBezTo>
                    <a:pt x="2446020" y="51742"/>
                    <a:pt x="2463800" y="40312"/>
                    <a:pt x="2531110" y="35232"/>
                  </a:cubicBezTo>
                  <a:cubicBezTo>
                    <a:pt x="2706370" y="21262"/>
                    <a:pt x="3335020" y="45392"/>
                    <a:pt x="3500120" y="30152"/>
                  </a:cubicBezTo>
                  <a:cubicBezTo>
                    <a:pt x="3557270" y="25072"/>
                    <a:pt x="3569970" y="13642"/>
                    <a:pt x="3614420" y="8562"/>
                  </a:cubicBezTo>
                  <a:cubicBezTo>
                    <a:pt x="3677920" y="2212"/>
                    <a:pt x="3807460" y="-4138"/>
                    <a:pt x="3843020" y="3482"/>
                  </a:cubicBezTo>
                  <a:cubicBezTo>
                    <a:pt x="3854450" y="6022"/>
                    <a:pt x="3859530" y="8562"/>
                    <a:pt x="3863340" y="14912"/>
                  </a:cubicBezTo>
                  <a:cubicBezTo>
                    <a:pt x="3868420" y="19992"/>
                    <a:pt x="3869690" y="31422"/>
                    <a:pt x="3867150" y="37772"/>
                  </a:cubicBezTo>
                  <a:cubicBezTo>
                    <a:pt x="3864610" y="45392"/>
                    <a:pt x="3855720" y="51742"/>
                    <a:pt x="3849370" y="54282"/>
                  </a:cubicBezTo>
                  <a:cubicBezTo>
                    <a:pt x="3841750" y="55552"/>
                    <a:pt x="3831590" y="53012"/>
                    <a:pt x="3825240" y="47932"/>
                  </a:cubicBezTo>
                  <a:cubicBezTo>
                    <a:pt x="3820160" y="42852"/>
                    <a:pt x="3816350" y="32692"/>
                    <a:pt x="3817620" y="25072"/>
                  </a:cubicBezTo>
                  <a:cubicBezTo>
                    <a:pt x="3818890" y="18722"/>
                    <a:pt x="3825240" y="9832"/>
                    <a:pt x="3831590" y="6022"/>
                  </a:cubicBezTo>
                  <a:cubicBezTo>
                    <a:pt x="3837940" y="3482"/>
                    <a:pt x="3849370" y="3482"/>
                    <a:pt x="3855720" y="7292"/>
                  </a:cubicBezTo>
                  <a:cubicBezTo>
                    <a:pt x="3862070" y="11102"/>
                    <a:pt x="3869690" y="19992"/>
                    <a:pt x="3868420" y="27612"/>
                  </a:cubicBezTo>
                  <a:cubicBezTo>
                    <a:pt x="3867150" y="36502"/>
                    <a:pt x="3858260" y="47932"/>
                    <a:pt x="3843020" y="54282"/>
                  </a:cubicBezTo>
                  <a:cubicBezTo>
                    <a:pt x="3807460" y="70792"/>
                    <a:pt x="3683000" y="53012"/>
                    <a:pt x="3620770" y="59362"/>
                  </a:cubicBezTo>
                  <a:cubicBezTo>
                    <a:pt x="3573780" y="64442"/>
                    <a:pt x="3559810" y="75872"/>
                    <a:pt x="3500120" y="80952"/>
                  </a:cubicBezTo>
                  <a:cubicBezTo>
                    <a:pt x="3333750" y="96192"/>
                    <a:pt x="2713990" y="72062"/>
                    <a:pt x="2536190" y="86032"/>
                  </a:cubicBezTo>
                  <a:cubicBezTo>
                    <a:pt x="2467610" y="91112"/>
                    <a:pt x="2451100" y="102542"/>
                    <a:pt x="2393950" y="107622"/>
                  </a:cubicBezTo>
                  <a:cubicBezTo>
                    <a:pt x="2312670" y="115242"/>
                    <a:pt x="2175510" y="107622"/>
                    <a:pt x="2089150" y="119052"/>
                  </a:cubicBezTo>
                  <a:cubicBezTo>
                    <a:pt x="2026920" y="129212"/>
                    <a:pt x="1987550" y="149532"/>
                    <a:pt x="1926590" y="159692"/>
                  </a:cubicBezTo>
                  <a:cubicBezTo>
                    <a:pt x="1854200" y="173662"/>
                    <a:pt x="1762760" y="181282"/>
                    <a:pt x="1682750" y="186362"/>
                  </a:cubicBezTo>
                  <a:cubicBezTo>
                    <a:pt x="1606550" y="191442"/>
                    <a:pt x="1522730" y="185092"/>
                    <a:pt x="1457960" y="191442"/>
                  </a:cubicBezTo>
                  <a:cubicBezTo>
                    <a:pt x="1407160" y="195252"/>
                    <a:pt x="1391920" y="206682"/>
                    <a:pt x="1324610" y="213032"/>
                  </a:cubicBezTo>
                  <a:cubicBezTo>
                    <a:pt x="1113790" y="229542"/>
                    <a:pt x="130810" y="260022"/>
                    <a:pt x="25400" y="213032"/>
                  </a:cubicBezTo>
                  <a:cubicBezTo>
                    <a:pt x="7620" y="204142"/>
                    <a:pt x="0" y="192712"/>
                    <a:pt x="0" y="183822"/>
                  </a:cubicBezTo>
                  <a:cubicBezTo>
                    <a:pt x="1270" y="176202"/>
                    <a:pt x="25400" y="162232"/>
                    <a:pt x="25400" y="162232"/>
                  </a:cubicBezTo>
                </a:path>
              </a:pathLst>
            </a:custGeom>
            <a:solidFill>
              <a:srgbClr val="0571D3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2552045" y="9381172"/>
            <a:ext cx="2976562" cy="193358"/>
            <a:chOff x="0" y="0"/>
            <a:chExt cx="3968750" cy="25781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50800" y="35722"/>
              <a:ext cx="3867650" cy="200662"/>
            </a:xfrm>
            <a:custGeom>
              <a:avLst/>
              <a:gdLst/>
              <a:ahLst/>
              <a:cxnLst/>
              <a:rect r="r" b="b" t="t" l="l"/>
              <a:pathLst>
                <a:path h="200662" w="3867650">
                  <a:moveTo>
                    <a:pt x="25400" y="120488"/>
                  </a:moveTo>
                  <a:cubicBezTo>
                    <a:pt x="1532890" y="98898"/>
                    <a:pt x="1624330" y="39208"/>
                    <a:pt x="1859280" y="17618"/>
                  </a:cubicBezTo>
                  <a:cubicBezTo>
                    <a:pt x="2270760" y="-20482"/>
                    <a:pt x="3375660" y="15078"/>
                    <a:pt x="3566160" y="15078"/>
                  </a:cubicBezTo>
                  <a:cubicBezTo>
                    <a:pt x="3604260" y="15078"/>
                    <a:pt x="3608070" y="8728"/>
                    <a:pt x="3634740" y="15078"/>
                  </a:cubicBezTo>
                  <a:cubicBezTo>
                    <a:pt x="3677920" y="23968"/>
                    <a:pt x="3756660" y="63338"/>
                    <a:pt x="3798570" y="87468"/>
                  </a:cubicBezTo>
                  <a:cubicBezTo>
                    <a:pt x="3827780" y="103978"/>
                    <a:pt x="3860800" y="120488"/>
                    <a:pt x="3865880" y="136998"/>
                  </a:cubicBezTo>
                  <a:cubicBezTo>
                    <a:pt x="3869690" y="147158"/>
                    <a:pt x="3863340" y="161128"/>
                    <a:pt x="3856990" y="166208"/>
                  </a:cubicBezTo>
                  <a:cubicBezTo>
                    <a:pt x="3850640" y="171288"/>
                    <a:pt x="3831590" y="170018"/>
                    <a:pt x="3826510" y="164938"/>
                  </a:cubicBezTo>
                  <a:cubicBezTo>
                    <a:pt x="3820160" y="158588"/>
                    <a:pt x="3818890" y="135728"/>
                    <a:pt x="3823970" y="128108"/>
                  </a:cubicBezTo>
                  <a:cubicBezTo>
                    <a:pt x="3827780" y="121758"/>
                    <a:pt x="3839210" y="119218"/>
                    <a:pt x="3846830" y="120488"/>
                  </a:cubicBezTo>
                  <a:cubicBezTo>
                    <a:pt x="3853180" y="121758"/>
                    <a:pt x="3862070" y="128108"/>
                    <a:pt x="3865880" y="134458"/>
                  </a:cubicBezTo>
                  <a:cubicBezTo>
                    <a:pt x="3868420" y="140808"/>
                    <a:pt x="3868420" y="152238"/>
                    <a:pt x="3864610" y="158588"/>
                  </a:cubicBezTo>
                  <a:cubicBezTo>
                    <a:pt x="3860800" y="163668"/>
                    <a:pt x="3854450" y="170018"/>
                    <a:pt x="3844290" y="171288"/>
                  </a:cubicBezTo>
                  <a:cubicBezTo>
                    <a:pt x="3811270" y="172558"/>
                    <a:pt x="3742690" y="91278"/>
                    <a:pt x="3633470" y="65878"/>
                  </a:cubicBezTo>
                  <a:cubicBezTo>
                    <a:pt x="3335020" y="-5242"/>
                    <a:pt x="2287270" y="29048"/>
                    <a:pt x="1864360" y="68418"/>
                  </a:cubicBezTo>
                  <a:cubicBezTo>
                    <a:pt x="1626870" y="90008"/>
                    <a:pt x="1534160" y="149698"/>
                    <a:pt x="1310640" y="171288"/>
                  </a:cubicBezTo>
                  <a:cubicBezTo>
                    <a:pt x="971550" y="201768"/>
                    <a:pt x="129540" y="218278"/>
                    <a:pt x="25400" y="171288"/>
                  </a:cubicBezTo>
                  <a:cubicBezTo>
                    <a:pt x="7620" y="162398"/>
                    <a:pt x="0" y="150968"/>
                    <a:pt x="0" y="142078"/>
                  </a:cubicBezTo>
                  <a:cubicBezTo>
                    <a:pt x="0" y="134458"/>
                    <a:pt x="25400" y="120488"/>
                    <a:pt x="25400" y="120488"/>
                  </a:cubicBezTo>
                </a:path>
              </a:pathLst>
            </a:custGeom>
            <a:solidFill>
              <a:srgbClr val="0571D3"/>
            </a:solid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155325" y="2459303"/>
            <a:ext cx="9752350" cy="6798997"/>
          </a:xfrm>
          <a:custGeom>
            <a:avLst/>
            <a:gdLst/>
            <a:ahLst/>
            <a:cxnLst/>
            <a:rect r="r" b="b" t="t" l="l"/>
            <a:pathLst>
              <a:path h="6798997" w="9752350">
                <a:moveTo>
                  <a:pt x="0" y="0"/>
                </a:moveTo>
                <a:lnTo>
                  <a:pt x="9752350" y="0"/>
                </a:lnTo>
                <a:lnTo>
                  <a:pt x="9752350" y="6798997"/>
                </a:lnTo>
                <a:lnTo>
                  <a:pt x="0" y="67989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51731" y="923925"/>
            <a:ext cx="16784538" cy="880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40"/>
              </a:lnSpc>
            </a:pPr>
            <a:r>
              <a:rPr lang="en-US" sz="51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Visualizing  Weights and Biases for each unit (neuron)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16360" y="2588793"/>
            <a:ext cx="5397847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 the example of Layer 1: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68177" y="3732985"/>
            <a:ext cx="5669533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Each neuron gets 64 values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(one image)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5076825"/>
            <a:ext cx="6313397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all those values are multipled with weights and a bias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is added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7171432"/>
            <a:ext cx="6722418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output of each neuron is 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represented by z, and the matrix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of all values of z is ‘Z1'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898677" y="2089150"/>
            <a:ext cx="10161557" cy="5566388"/>
          </a:xfrm>
          <a:custGeom>
            <a:avLst/>
            <a:gdLst/>
            <a:ahLst/>
            <a:cxnLst/>
            <a:rect r="r" b="b" t="t" l="l"/>
            <a:pathLst>
              <a:path h="5566388" w="10161557">
                <a:moveTo>
                  <a:pt x="0" y="0"/>
                </a:moveTo>
                <a:lnTo>
                  <a:pt x="10161557" y="0"/>
                </a:lnTo>
                <a:lnTo>
                  <a:pt x="10161557" y="5566388"/>
                </a:lnTo>
                <a:lnTo>
                  <a:pt x="0" y="55663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61843" y="895350"/>
            <a:ext cx="12764313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Activation function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199476"/>
            <a:ext cx="5991002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 all the hidden layers,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ReLU is used as an activation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function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4391521"/>
            <a:ext cx="5761434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A1 will act as an activation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for layer 2 and is 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calculated as: A1 = ReLU(Z1)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6581636"/>
            <a:ext cx="7209383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Since ReLU performs 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element-wise operation, the 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dimension of matrix do not change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012193" y="2373555"/>
            <a:ext cx="8819202" cy="6884745"/>
          </a:xfrm>
          <a:custGeom>
            <a:avLst/>
            <a:gdLst/>
            <a:ahLst/>
            <a:cxnLst/>
            <a:rect r="r" b="b" t="t" l="l"/>
            <a:pathLst>
              <a:path h="6884745" w="8819202">
                <a:moveTo>
                  <a:pt x="0" y="0"/>
                </a:moveTo>
                <a:lnTo>
                  <a:pt x="8819203" y="0"/>
                </a:lnTo>
                <a:lnTo>
                  <a:pt x="8819203" y="6884745"/>
                </a:lnTo>
                <a:lnTo>
                  <a:pt x="0" y="68847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455550" y="895350"/>
            <a:ext cx="13376900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Dimension of Weight matrices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912981"/>
            <a:ext cx="6839396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image on the right shows the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weight matrix w1(for layer 1)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4331253"/>
            <a:ext cx="7594327" cy="3580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 this matrix, each column 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represents weights of one neuron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 layer 1. The number in superscript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is the layer number and first number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 subscript represents neuron 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number in one layer.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8150143"/>
            <a:ext cx="7594327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Dims of w1 ⟶ (64, 128)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819418" y="3321643"/>
            <a:ext cx="12649163" cy="3643714"/>
          </a:xfrm>
          <a:custGeom>
            <a:avLst/>
            <a:gdLst/>
            <a:ahLst/>
            <a:cxnLst/>
            <a:rect r="r" b="b" t="t" l="l"/>
            <a:pathLst>
              <a:path h="3643714" w="12649163">
                <a:moveTo>
                  <a:pt x="0" y="0"/>
                </a:moveTo>
                <a:lnTo>
                  <a:pt x="12649164" y="0"/>
                </a:lnTo>
                <a:lnTo>
                  <a:pt x="12649164" y="3643714"/>
                </a:lnTo>
                <a:lnTo>
                  <a:pt x="0" y="36437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45458" y="895350"/>
            <a:ext cx="11797085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Dimension of Bias Matrices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95499" y="7527888"/>
            <a:ext cx="15897002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Following the same notation, here too each column of the matrix is the bias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value of one neuron and the number in subscript is the neuron number while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number in superscript is the layer number.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374978" y="2741253"/>
            <a:ext cx="4393853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Dims of b1 ⟶ (1, 128)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38752" y="3259167"/>
            <a:ext cx="7401946" cy="6450267"/>
          </a:xfrm>
          <a:custGeom>
            <a:avLst/>
            <a:gdLst/>
            <a:ahLst/>
            <a:cxnLst/>
            <a:rect r="r" b="b" t="t" l="l"/>
            <a:pathLst>
              <a:path h="6450267" w="7401946">
                <a:moveTo>
                  <a:pt x="0" y="0"/>
                </a:moveTo>
                <a:lnTo>
                  <a:pt x="7401945" y="0"/>
                </a:lnTo>
                <a:lnTo>
                  <a:pt x="7401945" y="6450267"/>
                </a:lnTo>
                <a:lnTo>
                  <a:pt x="0" y="64502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238848" y="375983"/>
            <a:ext cx="16020452" cy="2432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Dimension of weights and bias matrix in each layer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38848" y="3294378"/>
            <a:ext cx="8187184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Weights and bias matrix could be found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by following the trends in the last two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slides.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38848" y="5560693"/>
            <a:ext cx="7875389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One observable point is that for every</a:t>
            </a:r>
          </a:p>
          <a:p>
            <a:pPr algn="l" marL="734059" indent="-367030" lvl="1">
              <a:lnSpc>
                <a:spcPts val="4759"/>
              </a:lnSpc>
              <a:buAutoNum type="arabicPeriod" startAt="1"/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Weight matrix ⟶ (n_in, n_out)</a:t>
            </a:r>
          </a:p>
          <a:p>
            <a:pPr algn="l" marL="734059" indent="-367030" lvl="1">
              <a:lnSpc>
                <a:spcPts val="4759"/>
              </a:lnSpc>
              <a:buAutoNum type="arabicPeriod" startAt="1"/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Bias matrix ⟶ (1, n_out)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38848" y="7607695"/>
            <a:ext cx="7473925" cy="2184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where n_in = number of inputs for layer (or)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                      number of neurons in previous layer</a:t>
            </a:r>
          </a:p>
          <a:p>
            <a:pPr algn="l">
              <a:lnSpc>
                <a:spcPts val="3500"/>
              </a:lnSpc>
            </a:pP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n_out = number of outputs by layer (or)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            number of neurons in current layer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959352" y="163648"/>
            <a:ext cx="7093305" cy="5116534"/>
          </a:xfrm>
          <a:custGeom>
            <a:avLst/>
            <a:gdLst/>
            <a:ahLst/>
            <a:cxnLst/>
            <a:rect r="r" b="b" t="t" l="l"/>
            <a:pathLst>
              <a:path h="5116534" w="7093305">
                <a:moveTo>
                  <a:pt x="0" y="0"/>
                </a:moveTo>
                <a:lnTo>
                  <a:pt x="7093305" y="0"/>
                </a:lnTo>
                <a:lnTo>
                  <a:pt x="7093305" y="5116535"/>
                </a:lnTo>
                <a:lnTo>
                  <a:pt x="0" y="511653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06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403262" y="5783706"/>
            <a:ext cx="10884738" cy="4503294"/>
          </a:xfrm>
          <a:custGeom>
            <a:avLst/>
            <a:gdLst/>
            <a:ahLst/>
            <a:cxnLst/>
            <a:rect r="r" b="b" t="t" l="l"/>
            <a:pathLst>
              <a:path h="4503294" w="10884738">
                <a:moveTo>
                  <a:pt x="0" y="0"/>
                </a:moveTo>
                <a:lnTo>
                  <a:pt x="10884738" y="0"/>
                </a:lnTo>
                <a:lnTo>
                  <a:pt x="10884738" y="4503294"/>
                </a:lnTo>
                <a:lnTo>
                  <a:pt x="0" y="45032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41677" y="141605"/>
            <a:ext cx="4265042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Forward pass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41677" y="1158553"/>
            <a:ext cx="10385227" cy="7781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 forward pass, we move towards output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from the input.</a:t>
            </a:r>
          </a:p>
          <a:p>
            <a:pPr algn="l">
              <a:lnSpc>
                <a:spcPts val="4759"/>
              </a:lnSpc>
            </a:p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code below shows the implementation of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forward pass. Forward pass is used to do the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actual prediction by the network once you train it.</a:t>
            </a:r>
          </a:p>
          <a:p>
            <a:pPr algn="l">
              <a:lnSpc>
                <a:spcPts val="4759"/>
              </a:lnSpc>
            </a:p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 easy words, training is actually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finding the right value of weights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and biases which give the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expected output for an input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 the neural network.</a:t>
            </a:r>
          </a:p>
          <a:p>
            <a:pPr algn="l">
              <a:lnSpc>
                <a:spcPts val="4759"/>
              </a:lnSpc>
            </a:pP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912032" y="3254134"/>
            <a:ext cx="11062109" cy="6616524"/>
          </a:xfrm>
          <a:custGeom>
            <a:avLst/>
            <a:gdLst/>
            <a:ahLst/>
            <a:cxnLst/>
            <a:rect r="r" b="b" t="t" l="l"/>
            <a:pathLst>
              <a:path h="6616524" w="11062109">
                <a:moveTo>
                  <a:pt x="0" y="0"/>
                </a:moveTo>
                <a:lnTo>
                  <a:pt x="11062109" y="0"/>
                </a:lnTo>
                <a:lnTo>
                  <a:pt x="11062109" y="6616524"/>
                </a:lnTo>
                <a:lnTo>
                  <a:pt x="0" y="66165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57657" y="304398"/>
            <a:ext cx="4757738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Backward pass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57657" y="1349252"/>
            <a:ext cx="15653965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Backward pass, as the name suggests, is moving from output towards input.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33164" y="2673744"/>
            <a:ext cx="6488757" cy="6581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We first find the output the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network is giving by doing a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forward pass for initialized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weights.</a:t>
            </a:r>
          </a:p>
          <a:p>
            <a:pPr algn="l">
              <a:lnSpc>
                <a:spcPts val="4759"/>
              </a:lnSpc>
            </a:p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After that we calculate loss for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that output, it is like comparing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current output with actual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label to find out how far we are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from real value and move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towards it.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095397" y="0"/>
            <a:ext cx="9192603" cy="8543349"/>
          </a:xfrm>
          <a:custGeom>
            <a:avLst/>
            <a:gdLst/>
            <a:ahLst/>
            <a:cxnLst/>
            <a:rect r="r" b="b" t="t" l="l"/>
            <a:pathLst>
              <a:path h="8543349" w="9192603">
                <a:moveTo>
                  <a:pt x="0" y="0"/>
                </a:moveTo>
                <a:lnTo>
                  <a:pt x="9192603" y="0"/>
                </a:lnTo>
                <a:lnTo>
                  <a:pt x="9192603" y="8543349"/>
                </a:lnTo>
                <a:lnTo>
                  <a:pt x="0" y="85433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33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22038" y="448310"/>
            <a:ext cx="16664434" cy="9581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After calculating the loss, we have to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determine how to change weights(and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biases) to get the loss to decrease.</a:t>
            </a:r>
          </a:p>
          <a:p>
            <a:pPr algn="l">
              <a:lnSpc>
                <a:spcPts val="4759"/>
              </a:lnSpc>
            </a:p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For this, we find the derivative of loss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with respect to weights(w1, w2, w3) and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biases(b1, b2, b3) and apply gradient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descent.</a:t>
            </a:r>
          </a:p>
          <a:p>
            <a:pPr algn="l">
              <a:lnSpc>
                <a:spcPts val="4759"/>
              </a:lnSpc>
            </a:p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By definition derivative is the change of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one quantity w.r.t another and our goal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it to find that wheather decreasing or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increasing a particular parameter is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going to increase or decrease the loss.</a:t>
            </a:r>
          </a:p>
          <a:p>
            <a:pPr algn="l">
              <a:lnSpc>
                <a:spcPts val="4759"/>
              </a:lnSpc>
            </a:p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Then we apply standard gradient descent to change the parameters accordingly.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934194" y="632777"/>
            <a:ext cx="8819850" cy="6997005"/>
          </a:xfrm>
          <a:custGeom>
            <a:avLst/>
            <a:gdLst/>
            <a:ahLst/>
            <a:cxnLst/>
            <a:rect r="r" b="b" t="t" l="l"/>
            <a:pathLst>
              <a:path h="6997005" w="8819850">
                <a:moveTo>
                  <a:pt x="0" y="0"/>
                </a:moveTo>
                <a:lnTo>
                  <a:pt x="8819850" y="0"/>
                </a:lnTo>
                <a:lnTo>
                  <a:pt x="8819850" y="6997006"/>
                </a:lnTo>
                <a:lnTo>
                  <a:pt x="0" y="69970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458261" y="8539694"/>
            <a:ext cx="6515362" cy="1437212"/>
          </a:xfrm>
          <a:custGeom>
            <a:avLst/>
            <a:gdLst/>
            <a:ahLst/>
            <a:cxnLst/>
            <a:rect r="r" b="b" t="t" l="l"/>
            <a:pathLst>
              <a:path h="1437212" w="6515362">
                <a:moveTo>
                  <a:pt x="0" y="0"/>
                </a:moveTo>
                <a:lnTo>
                  <a:pt x="6515362" y="0"/>
                </a:lnTo>
                <a:lnTo>
                  <a:pt x="6515362" y="1437212"/>
                </a:lnTo>
                <a:lnTo>
                  <a:pt x="0" y="14372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102680" y="8602578"/>
            <a:ext cx="7971119" cy="1311444"/>
          </a:xfrm>
          <a:custGeom>
            <a:avLst/>
            <a:gdLst/>
            <a:ahLst/>
            <a:cxnLst/>
            <a:rect r="r" b="b" t="t" l="l"/>
            <a:pathLst>
              <a:path h="1311444" w="7971119">
                <a:moveTo>
                  <a:pt x="0" y="0"/>
                </a:moveTo>
                <a:lnTo>
                  <a:pt x="7971119" y="0"/>
                </a:lnTo>
                <a:lnTo>
                  <a:pt x="7971119" y="1311444"/>
                </a:lnTo>
                <a:lnTo>
                  <a:pt x="0" y="13114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30347" y="141605"/>
            <a:ext cx="5956548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Gradient Checking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14201" y="1219517"/>
            <a:ext cx="17859598" cy="7781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gradient checking is done by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calculating gradient for a few weights and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biases in two ways and then comparing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their relative difference:</a:t>
            </a:r>
          </a:p>
          <a:p>
            <a:pPr algn="l">
              <a:lnSpc>
                <a:spcPts val="4759"/>
              </a:lnSpc>
            </a:p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 first, the gradient was calculated by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first principle method with the formula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below.</a:t>
            </a:r>
          </a:p>
          <a:p>
            <a:pPr algn="l">
              <a:lnSpc>
                <a:spcPts val="4759"/>
              </a:lnSpc>
            </a:p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Secondly, with the formulas for different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gradients we derived, if these two give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very less relative diff, of order 1e-7, then we can assume that our gradients are correct.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151475" y="0"/>
            <a:ext cx="10136525" cy="10287000"/>
          </a:xfrm>
          <a:custGeom>
            <a:avLst/>
            <a:gdLst/>
            <a:ahLst/>
            <a:cxnLst/>
            <a:rect r="r" b="b" t="t" l="l"/>
            <a:pathLst>
              <a:path h="10287000" w="10136525">
                <a:moveTo>
                  <a:pt x="0" y="0"/>
                </a:moveTo>
                <a:lnTo>
                  <a:pt x="10136525" y="0"/>
                </a:lnTo>
                <a:lnTo>
                  <a:pt x="10136525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39238" y="4819967"/>
            <a:ext cx="9525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488268" y="323468"/>
            <a:ext cx="4382095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Training Loop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88268" y="1463671"/>
            <a:ext cx="7666211" cy="7781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training loop is nothing but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combining this forward pass, loss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calculation and backward pass, while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keeping check on accuracy and loss.</a:t>
            </a:r>
          </a:p>
          <a:p>
            <a:pPr algn="l">
              <a:lnSpc>
                <a:spcPts val="4759"/>
              </a:lnSpc>
            </a:p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training loop is executed many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times, predefined in the code as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‘epochs’.</a:t>
            </a:r>
          </a:p>
          <a:p>
            <a:pPr algn="l">
              <a:lnSpc>
                <a:spcPts val="4759"/>
              </a:lnSpc>
            </a:p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learning rate is also pre-defined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and set to 0.1. Changing epochs and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learning rate affects the time taken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and quality of training of model.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442131" cy="7577019"/>
          </a:xfrm>
          <a:custGeom>
            <a:avLst/>
            <a:gdLst/>
            <a:ahLst/>
            <a:cxnLst/>
            <a:rect r="r" b="b" t="t" l="l"/>
            <a:pathLst>
              <a:path h="7577019" w="9442131">
                <a:moveTo>
                  <a:pt x="0" y="0"/>
                </a:moveTo>
                <a:lnTo>
                  <a:pt x="9442131" y="0"/>
                </a:lnTo>
                <a:lnTo>
                  <a:pt x="9442131" y="7577019"/>
                </a:lnTo>
                <a:lnTo>
                  <a:pt x="0" y="75770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845869" y="0"/>
            <a:ext cx="9442131" cy="7577019"/>
          </a:xfrm>
          <a:custGeom>
            <a:avLst/>
            <a:gdLst/>
            <a:ahLst/>
            <a:cxnLst/>
            <a:rect r="r" b="b" t="t" l="l"/>
            <a:pathLst>
              <a:path h="7577019" w="9442131">
                <a:moveTo>
                  <a:pt x="0" y="0"/>
                </a:moveTo>
                <a:lnTo>
                  <a:pt x="9442131" y="0"/>
                </a:lnTo>
                <a:lnTo>
                  <a:pt x="9442131" y="7577019"/>
                </a:lnTo>
                <a:lnTo>
                  <a:pt x="0" y="75770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402794" y="7510344"/>
            <a:ext cx="6636544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Loss curve at learning_rate = 0.1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(this one is used)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(slow convergence)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598497" y="7510344"/>
            <a:ext cx="6660803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Loss curve at learning_rate = 0.3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(moderate convergence)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565497" y="0"/>
            <a:ext cx="8722503" cy="6999539"/>
          </a:xfrm>
          <a:custGeom>
            <a:avLst/>
            <a:gdLst/>
            <a:ahLst/>
            <a:cxnLst/>
            <a:rect r="r" b="b" t="t" l="l"/>
            <a:pathLst>
              <a:path h="6999539" w="8722503">
                <a:moveTo>
                  <a:pt x="0" y="0"/>
                </a:moveTo>
                <a:lnTo>
                  <a:pt x="8722503" y="0"/>
                </a:lnTo>
                <a:lnTo>
                  <a:pt x="8722503" y="6999539"/>
                </a:lnTo>
                <a:lnTo>
                  <a:pt x="0" y="69995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7661034" cy="6999539"/>
          </a:xfrm>
          <a:custGeom>
            <a:avLst/>
            <a:gdLst/>
            <a:ahLst/>
            <a:cxnLst/>
            <a:rect r="r" b="b" t="t" l="l"/>
            <a:pathLst>
              <a:path h="6999539" w="7661034">
                <a:moveTo>
                  <a:pt x="0" y="0"/>
                </a:moveTo>
                <a:lnTo>
                  <a:pt x="7661034" y="0"/>
                </a:lnTo>
                <a:lnTo>
                  <a:pt x="7661034" y="6999539"/>
                </a:lnTo>
                <a:lnTo>
                  <a:pt x="0" y="69995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540685" y="6932864"/>
            <a:ext cx="6772126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Loss curve at learning_Rate = 0.5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(faster convergence)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4623" y="6932864"/>
            <a:ext cx="5611788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Confusion Matrix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for 97.5% accuracy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on scratch implementation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70497" y="2400199"/>
            <a:ext cx="16947006" cy="3516216"/>
          </a:xfrm>
          <a:custGeom>
            <a:avLst/>
            <a:gdLst/>
            <a:ahLst/>
            <a:cxnLst/>
            <a:rect r="r" b="b" t="t" l="l"/>
            <a:pathLst>
              <a:path h="3516216" w="16947006">
                <a:moveTo>
                  <a:pt x="0" y="0"/>
                </a:moveTo>
                <a:lnTo>
                  <a:pt x="16947006" y="0"/>
                </a:lnTo>
                <a:lnTo>
                  <a:pt x="16947006" y="3516215"/>
                </a:lnTo>
                <a:lnTo>
                  <a:pt x="0" y="35162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19879" y="933704"/>
            <a:ext cx="6598890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Misclassified images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853529" y="6307417"/>
            <a:ext cx="16580941" cy="2380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images that were misclassified by the model contain ambiguity as we can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see in the images themselves, as a ‘7’ with a curve that goes too down can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confuse to model to assume that it’s a ‘9’. Similar ambiguity can be seen in other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images. This shows that our model is working good on normal images.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65945" y="1047869"/>
            <a:ext cx="7562701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Scratch Implementaion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953301" y="1047869"/>
            <a:ext cx="8953723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Framework Implementation</a:t>
            </a:r>
          </a:p>
        </p:txBody>
      </p:sp>
      <p:sp>
        <p:nvSpPr>
          <p:cNvPr name="AutoShape 4" id="4"/>
          <p:cNvSpPr/>
          <p:nvPr/>
        </p:nvSpPr>
        <p:spPr>
          <a:xfrm>
            <a:off x="8590974" y="1143119"/>
            <a:ext cx="0" cy="8115181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831219" y="2340885"/>
            <a:ext cx="5242620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Max accuracy: 98.0556 %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Most of the time: ~97.5%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801330" y="2384065"/>
            <a:ext cx="5245373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Max accuracy: 98.33%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Most of the time: ~97.78%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22384" y="3933804"/>
            <a:ext cx="383344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More lines of code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801330" y="3933804"/>
            <a:ext cx="5848127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 to 3 times less line of code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31219" y="4923769"/>
            <a:ext cx="5619676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No optimization untill  self-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implemented from scratch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01330" y="4880590"/>
            <a:ext cx="8486670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Automatic optimization in many ways,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 training, in data handling, in calculation, etc.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31219" y="6594455"/>
            <a:ext cx="4733851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Less memory efficient.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801330" y="6877685"/>
            <a:ext cx="8105694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More memory efficient because of optimized code and implementation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65945" y="7434580"/>
            <a:ext cx="7786836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This implementation is made for only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this type of model, with crossentropy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loss, relu and softmax activation.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801330" y="8277225"/>
            <a:ext cx="7578179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Works for all types of activation and 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loss function with better options.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0" y="4819967"/>
            <a:ext cx="18288000" cy="2980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framework 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didn't do anything conceptually different — it automated 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exact same chain-rule computations, which is why doing it by hand first made the framework version make sense rather than feel like magic.</a:t>
            </a:r>
          </a:p>
          <a:p>
            <a:pPr algn="ctr">
              <a:lnSpc>
                <a:spcPts val="4759"/>
              </a:lnSpc>
            </a:pP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~Some LLM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687156" y="1890809"/>
            <a:ext cx="8913688" cy="186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259"/>
              </a:lnSpc>
            </a:pPr>
            <a:r>
              <a:rPr lang="en-US" sz="108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THANK YOU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DAHVrD8XyOE</dc:identifier>
  <dcterms:modified xsi:type="dcterms:W3CDTF">2011-08-01T06:04:30Z</dcterms:modified>
  <cp:revision>1</cp:revision>
  <dc:title>Neural Network Implementation</dc:title>
</cp:coreProperties>
</file>