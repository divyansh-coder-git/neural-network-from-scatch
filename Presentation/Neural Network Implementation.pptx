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Canva Sans Bold" charset="1" panose="020B0803030501040103"/>
      <p:regular r:id="rId25"/>
    </p:embeddedFont>
    <p:embeddedFont>
      <p:font typeface="Canva Sans" charset="1" panose="020B05030305010401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2696" y="866775"/>
            <a:ext cx="18265304" cy="2832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Neural Network Implementation from Scratch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683481" y="8677910"/>
            <a:ext cx="357581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Divyansh Pandey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07959" y="2374856"/>
            <a:ext cx="9618786" cy="6883444"/>
          </a:xfrm>
          <a:custGeom>
            <a:avLst/>
            <a:gdLst/>
            <a:ahLst/>
            <a:cxnLst/>
            <a:rect r="r" b="b" t="t" l="l"/>
            <a:pathLst>
              <a:path h="6883444" w="9618786">
                <a:moveTo>
                  <a:pt x="0" y="0"/>
                </a:moveTo>
                <a:lnTo>
                  <a:pt x="9618786" y="0"/>
                </a:lnTo>
                <a:lnTo>
                  <a:pt x="9618786" y="6883444"/>
                </a:lnTo>
                <a:lnTo>
                  <a:pt x="0" y="6883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08386" y="895350"/>
            <a:ext cx="15071229" cy="11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 Structure and Input Shape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51121"/>
            <a:ext cx="570391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sklearn.datasets.load_digits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999189"/>
            <a:ext cx="389565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total images = 1797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046304"/>
            <a:ext cx="6815956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With a 80-20 train-test split,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 will be 1437 images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training set and 360 in test set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293569"/>
            <a:ext cx="6815956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Input dims: (1797, 64)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46883" y="2435367"/>
            <a:ext cx="9989163" cy="6811361"/>
          </a:xfrm>
          <a:custGeom>
            <a:avLst/>
            <a:gdLst/>
            <a:ahLst/>
            <a:cxnLst/>
            <a:rect r="r" b="b" t="t" l="l"/>
            <a:pathLst>
              <a:path h="6811361" w="9989163">
                <a:moveTo>
                  <a:pt x="0" y="0"/>
                </a:moveTo>
                <a:lnTo>
                  <a:pt x="9989164" y="0"/>
                </a:lnTo>
                <a:lnTo>
                  <a:pt x="9989164" y="6811361"/>
                </a:lnTo>
                <a:lnTo>
                  <a:pt x="0" y="6811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39238" y="4274503"/>
            <a:ext cx="9525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444157" y="895350"/>
            <a:ext cx="9390162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Network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3122" y="3351588"/>
            <a:ext cx="506990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Input ⟶ 128 ⟶ 64 ⟶ 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3122" y="4122420"/>
            <a:ext cx="506990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3-layer MLP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3340" y="5407343"/>
            <a:ext cx="6012731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Layer 0 ⟶ Input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Layer 1 ⟶ 128 units (ReLU)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Layer 2 ⟶ 64 units (ReLU)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Layer 3 ⟶ 10 units (Softmax)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(Output)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52785" y="2768961"/>
            <a:ext cx="13782430" cy="4749078"/>
          </a:xfrm>
          <a:custGeom>
            <a:avLst/>
            <a:gdLst/>
            <a:ahLst/>
            <a:cxnLst/>
            <a:rect r="r" b="b" t="t" l="l"/>
            <a:pathLst>
              <a:path h="4749078" w="13782430">
                <a:moveTo>
                  <a:pt x="0" y="0"/>
                </a:moveTo>
                <a:lnTo>
                  <a:pt x="13782430" y="0"/>
                </a:lnTo>
                <a:lnTo>
                  <a:pt x="13782430" y="4749078"/>
                </a:lnTo>
                <a:lnTo>
                  <a:pt x="0" y="47490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62029" y="895350"/>
            <a:ext cx="7363941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Convention used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55325" y="2459303"/>
            <a:ext cx="9752350" cy="6798997"/>
          </a:xfrm>
          <a:custGeom>
            <a:avLst/>
            <a:gdLst/>
            <a:ahLst/>
            <a:cxnLst/>
            <a:rect r="r" b="b" t="t" l="l"/>
            <a:pathLst>
              <a:path h="6798997" w="9752350">
                <a:moveTo>
                  <a:pt x="0" y="0"/>
                </a:moveTo>
                <a:lnTo>
                  <a:pt x="9752350" y="0"/>
                </a:lnTo>
                <a:lnTo>
                  <a:pt x="9752350" y="6798997"/>
                </a:lnTo>
                <a:lnTo>
                  <a:pt x="0" y="67989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1731" y="923925"/>
            <a:ext cx="16784538" cy="88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sz="5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Visualizing  Weights and Biases for each unit (neuron)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6360" y="2588793"/>
            <a:ext cx="539784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the example of Layer 1: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8177" y="3732985"/>
            <a:ext cx="5669533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Each neuron gets 64 values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(one image)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076825"/>
            <a:ext cx="6313397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 those values are multipled with weights and a bias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 added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171432"/>
            <a:ext cx="6722418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output of each neuron is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represented by z, and the matrix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 all values of z is ‘Z1'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98677" y="2089150"/>
            <a:ext cx="10161557" cy="5566388"/>
          </a:xfrm>
          <a:custGeom>
            <a:avLst/>
            <a:gdLst/>
            <a:ahLst/>
            <a:cxnLst/>
            <a:rect r="r" b="b" t="t" l="l"/>
            <a:pathLst>
              <a:path h="5566388" w="10161557">
                <a:moveTo>
                  <a:pt x="0" y="0"/>
                </a:moveTo>
                <a:lnTo>
                  <a:pt x="10161557" y="0"/>
                </a:lnTo>
                <a:lnTo>
                  <a:pt x="10161557" y="5566388"/>
                </a:lnTo>
                <a:lnTo>
                  <a:pt x="0" y="55663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61843" y="895350"/>
            <a:ext cx="12764313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Activation function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99476"/>
            <a:ext cx="5991002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all the hidden layers,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ReLU is used as an activation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function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391521"/>
            <a:ext cx="5761434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A1 will act as an activation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layer 2 and is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calculated as: A1 = ReLU(Z1)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581636"/>
            <a:ext cx="7209383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Since ReLU performs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element-wise operation, the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dimension of matrix do not change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2193" y="2373555"/>
            <a:ext cx="8819202" cy="6884745"/>
          </a:xfrm>
          <a:custGeom>
            <a:avLst/>
            <a:gdLst/>
            <a:ahLst/>
            <a:cxnLst/>
            <a:rect r="r" b="b" t="t" l="l"/>
            <a:pathLst>
              <a:path h="6884745" w="8819202">
                <a:moveTo>
                  <a:pt x="0" y="0"/>
                </a:moveTo>
                <a:lnTo>
                  <a:pt x="8819203" y="0"/>
                </a:lnTo>
                <a:lnTo>
                  <a:pt x="8819203" y="6884745"/>
                </a:lnTo>
                <a:lnTo>
                  <a:pt x="0" y="6884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55550" y="895350"/>
            <a:ext cx="1337690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Dimension of Weight matrices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12981"/>
            <a:ext cx="683939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image on the right shows the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weight matrix w1(for layer 1)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331253"/>
            <a:ext cx="7594327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this matrix, each column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represents weights of one neuron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layer 1. The number in superscript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 the layer number and first number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subscript represents neuron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number in one layer.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150143"/>
            <a:ext cx="759432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Dims of w1 ⟶ (64, 128)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19418" y="3321643"/>
            <a:ext cx="12649163" cy="3643714"/>
          </a:xfrm>
          <a:custGeom>
            <a:avLst/>
            <a:gdLst/>
            <a:ahLst/>
            <a:cxnLst/>
            <a:rect r="r" b="b" t="t" l="l"/>
            <a:pathLst>
              <a:path h="3643714" w="12649163">
                <a:moveTo>
                  <a:pt x="0" y="0"/>
                </a:moveTo>
                <a:lnTo>
                  <a:pt x="12649164" y="0"/>
                </a:lnTo>
                <a:lnTo>
                  <a:pt x="12649164" y="3643714"/>
                </a:lnTo>
                <a:lnTo>
                  <a:pt x="0" y="36437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45458" y="895350"/>
            <a:ext cx="11797085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Dimension of Bias Matrices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95499" y="7527888"/>
            <a:ext cx="15897002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Following the same notation, here too each column of the matrix is the bias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value of one neuron and the number in subscript is the neuron number while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number in superscript is the layer number.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74978" y="2741253"/>
            <a:ext cx="439385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Dims of b1 ⟶ (1, 128)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38752" y="3259167"/>
            <a:ext cx="7401946" cy="6450267"/>
          </a:xfrm>
          <a:custGeom>
            <a:avLst/>
            <a:gdLst/>
            <a:ahLst/>
            <a:cxnLst/>
            <a:rect r="r" b="b" t="t" l="l"/>
            <a:pathLst>
              <a:path h="6450267" w="7401946">
                <a:moveTo>
                  <a:pt x="0" y="0"/>
                </a:moveTo>
                <a:lnTo>
                  <a:pt x="7401945" y="0"/>
                </a:lnTo>
                <a:lnTo>
                  <a:pt x="7401945" y="6450267"/>
                </a:lnTo>
                <a:lnTo>
                  <a:pt x="0" y="64502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38848" y="375983"/>
            <a:ext cx="16020452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Dimension of weights and bias matrix in each layer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38848" y="3294378"/>
            <a:ext cx="8187184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Weights and bias matrix could be found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by following the trends in the last two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slides.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8848" y="5560693"/>
            <a:ext cx="7875389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One observable point is that for every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Weight matrix ⟶ (n_in, n_out)</a:t>
            </a: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Bias matrix ⟶ (1, n_out)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8848" y="7607695"/>
            <a:ext cx="7473925" cy="2184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where n_in = number of inputs for layer (or)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number of neurons in previous layer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n_out = number of outputs by layer (or)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number of neurons in current layer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59352" y="163648"/>
            <a:ext cx="7093305" cy="5116534"/>
          </a:xfrm>
          <a:custGeom>
            <a:avLst/>
            <a:gdLst/>
            <a:ahLst/>
            <a:cxnLst/>
            <a:rect r="r" b="b" t="t" l="l"/>
            <a:pathLst>
              <a:path h="5116534" w="7093305">
                <a:moveTo>
                  <a:pt x="0" y="0"/>
                </a:moveTo>
                <a:lnTo>
                  <a:pt x="7093305" y="0"/>
                </a:lnTo>
                <a:lnTo>
                  <a:pt x="7093305" y="5116535"/>
                </a:lnTo>
                <a:lnTo>
                  <a:pt x="0" y="5116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6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03262" y="5783706"/>
            <a:ext cx="10884738" cy="4503294"/>
          </a:xfrm>
          <a:custGeom>
            <a:avLst/>
            <a:gdLst/>
            <a:ahLst/>
            <a:cxnLst/>
            <a:rect r="r" b="b" t="t" l="l"/>
            <a:pathLst>
              <a:path h="4503294" w="10884738">
                <a:moveTo>
                  <a:pt x="0" y="0"/>
                </a:moveTo>
                <a:lnTo>
                  <a:pt x="10884738" y="0"/>
                </a:lnTo>
                <a:lnTo>
                  <a:pt x="10884738" y="4503294"/>
                </a:lnTo>
                <a:lnTo>
                  <a:pt x="0" y="4503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1677" y="141605"/>
            <a:ext cx="426504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Forward pass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1677" y="1158553"/>
            <a:ext cx="10385227" cy="778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forward pass, we move towards output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from the input.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code below shows the implementation of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forward pass. Forward pass is used to do the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actual prediction by the network once you train it.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easy words, training is actually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finding the right value of weights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biases which give the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expected output for an input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the neural network.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12032" y="3254134"/>
            <a:ext cx="11062109" cy="6616524"/>
          </a:xfrm>
          <a:custGeom>
            <a:avLst/>
            <a:gdLst/>
            <a:ahLst/>
            <a:cxnLst/>
            <a:rect r="r" b="b" t="t" l="l"/>
            <a:pathLst>
              <a:path h="6616524" w="11062109">
                <a:moveTo>
                  <a:pt x="0" y="0"/>
                </a:moveTo>
                <a:lnTo>
                  <a:pt x="11062109" y="0"/>
                </a:lnTo>
                <a:lnTo>
                  <a:pt x="11062109" y="6616524"/>
                </a:lnTo>
                <a:lnTo>
                  <a:pt x="0" y="6616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7657" y="304398"/>
            <a:ext cx="475773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Backward pass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57657" y="1349252"/>
            <a:ext cx="1565396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Backward pass, as the name suggests, is moving from output towards input.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3164" y="2673744"/>
            <a:ext cx="6488757" cy="65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first find the output the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network is giving by doing a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forward pass for initialized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weights.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After that we calculate loss for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that output, it is like comparing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current output with actual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label to find out how far we are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from real value and move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towards it.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95397" y="0"/>
            <a:ext cx="9192603" cy="8543349"/>
          </a:xfrm>
          <a:custGeom>
            <a:avLst/>
            <a:gdLst/>
            <a:ahLst/>
            <a:cxnLst/>
            <a:rect r="r" b="b" t="t" l="l"/>
            <a:pathLst>
              <a:path h="8543349" w="9192603">
                <a:moveTo>
                  <a:pt x="0" y="0"/>
                </a:moveTo>
                <a:lnTo>
                  <a:pt x="9192603" y="0"/>
                </a:lnTo>
                <a:lnTo>
                  <a:pt x="9192603" y="8543349"/>
                </a:lnTo>
                <a:lnTo>
                  <a:pt x="0" y="8543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2038" y="448310"/>
            <a:ext cx="16664434" cy="958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After calculating the loss, we have to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determine how to change weights(and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biases) to get the loss to decrease.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this, we find the derivative of loss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with respect to weights(w1, w2, w3) and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biases(b1, b2, b3) and apply gradient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descent.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By definition derivative is the change of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one quantity w.r.t another and our goal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to find that wheather decreasing or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increasing a particular parameter is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going to increase or decrease the loss.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Then we apply standard gradient descent to change the parameters accordingly.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34194" y="632777"/>
            <a:ext cx="8819850" cy="6997005"/>
          </a:xfrm>
          <a:custGeom>
            <a:avLst/>
            <a:gdLst/>
            <a:ahLst/>
            <a:cxnLst/>
            <a:rect r="r" b="b" t="t" l="l"/>
            <a:pathLst>
              <a:path h="6997005" w="8819850">
                <a:moveTo>
                  <a:pt x="0" y="0"/>
                </a:moveTo>
                <a:lnTo>
                  <a:pt x="8819850" y="0"/>
                </a:lnTo>
                <a:lnTo>
                  <a:pt x="8819850" y="6997006"/>
                </a:lnTo>
                <a:lnTo>
                  <a:pt x="0" y="6997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58261" y="8539694"/>
            <a:ext cx="6515362" cy="1437212"/>
          </a:xfrm>
          <a:custGeom>
            <a:avLst/>
            <a:gdLst/>
            <a:ahLst/>
            <a:cxnLst/>
            <a:rect r="r" b="b" t="t" l="l"/>
            <a:pathLst>
              <a:path h="1437212" w="6515362">
                <a:moveTo>
                  <a:pt x="0" y="0"/>
                </a:moveTo>
                <a:lnTo>
                  <a:pt x="6515362" y="0"/>
                </a:lnTo>
                <a:lnTo>
                  <a:pt x="6515362" y="1437212"/>
                </a:lnTo>
                <a:lnTo>
                  <a:pt x="0" y="1437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02680" y="8602578"/>
            <a:ext cx="7971119" cy="1311444"/>
          </a:xfrm>
          <a:custGeom>
            <a:avLst/>
            <a:gdLst/>
            <a:ahLst/>
            <a:cxnLst/>
            <a:rect r="r" b="b" t="t" l="l"/>
            <a:pathLst>
              <a:path h="1311444" w="7971119">
                <a:moveTo>
                  <a:pt x="0" y="0"/>
                </a:moveTo>
                <a:lnTo>
                  <a:pt x="7971119" y="0"/>
                </a:lnTo>
                <a:lnTo>
                  <a:pt x="7971119" y="1311444"/>
                </a:lnTo>
                <a:lnTo>
                  <a:pt x="0" y="1311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0347" y="141605"/>
            <a:ext cx="595654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Gradient Checking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4201" y="1219517"/>
            <a:ext cx="17859598" cy="778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gradient checking is done by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calculating gradient for a few weights and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biases in two ways and then comparing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their relative difference: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 first, the gradient was calculated by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first principle method with the formula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below.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Secondly, with the formulas for different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gradients we derived, if these two give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very less relative diff, of order 1e-7, then we can assume that our gradients are correct.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51475" y="0"/>
            <a:ext cx="10136525" cy="10287000"/>
          </a:xfrm>
          <a:custGeom>
            <a:avLst/>
            <a:gdLst/>
            <a:ahLst/>
            <a:cxnLst/>
            <a:rect r="r" b="b" t="t" l="l"/>
            <a:pathLst>
              <a:path h="10287000" w="10136525">
                <a:moveTo>
                  <a:pt x="0" y="0"/>
                </a:moveTo>
                <a:lnTo>
                  <a:pt x="10136525" y="0"/>
                </a:lnTo>
                <a:lnTo>
                  <a:pt x="101365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88268" y="323468"/>
            <a:ext cx="438209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Training Loop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88268" y="1463671"/>
            <a:ext cx="7666211" cy="778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training loop is nothing but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combining this forward pass, loss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calculation and backward pass, while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keeping check on accuracy and loss.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training loop is executed many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times, predefined in the code as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‘epochs’.</a:t>
            </a:r>
          </a:p>
          <a:p>
            <a:pPr algn="l">
              <a:lnSpc>
                <a:spcPts val="4759"/>
              </a:lnSpc>
            </a:pP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learning rate is also pre-defined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set to 0.1. Changing epochs and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learning rate affects the time taken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quality of training of model.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442131" cy="7577019"/>
          </a:xfrm>
          <a:custGeom>
            <a:avLst/>
            <a:gdLst/>
            <a:ahLst/>
            <a:cxnLst/>
            <a:rect r="r" b="b" t="t" l="l"/>
            <a:pathLst>
              <a:path h="7577019" w="9442131">
                <a:moveTo>
                  <a:pt x="0" y="0"/>
                </a:moveTo>
                <a:lnTo>
                  <a:pt x="9442131" y="0"/>
                </a:lnTo>
                <a:lnTo>
                  <a:pt x="9442131" y="7577019"/>
                </a:lnTo>
                <a:lnTo>
                  <a:pt x="0" y="7577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45869" y="0"/>
            <a:ext cx="9442131" cy="7577019"/>
          </a:xfrm>
          <a:custGeom>
            <a:avLst/>
            <a:gdLst/>
            <a:ahLst/>
            <a:cxnLst/>
            <a:rect r="r" b="b" t="t" l="l"/>
            <a:pathLst>
              <a:path h="7577019" w="9442131">
                <a:moveTo>
                  <a:pt x="0" y="0"/>
                </a:moveTo>
                <a:lnTo>
                  <a:pt x="9442131" y="0"/>
                </a:lnTo>
                <a:lnTo>
                  <a:pt x="9442131" y="7577019"/>
                </a:lnTo>
                <a:lnTo>
                  <a:pt x="0" y="75770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02794" y="7510344"/>
            <a:ext cx="6636544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Loss curve at learning_rate = 0.1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(this one is used)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(slow convergence)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98497" y="7510344"/>
            <a:ext cx="6660803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Loss curve at learning_rate = 0.3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(moderate convergence)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65497" y="0"/>
            <a:ext cx="8722503" cy="6999539"/>
          </a:xfrm>
          <a:custGeom>
            <a:avLst/>
            <a:gdLst/>
            <a:ahLst/>
            <a:cxnLst/>
            <a:rect r="r" b="b" t="t" l="l"/>
            <a:pathLst>
              <a:path h="6999539" w="8722503">
                <a:moveTo>
                  <a:pt x="0" y="0"/>
                </a:moveTo>
                <a:lnTo>
                  <a:pt x="8722503" y="0"/>
                </a:lnTo>
                <a:lnTo>
                  <a:pt x="8722503" y="6999539"/>
                </a:lnTo>
                <a:lnTo>
                  <a:pt x="0" y="6999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7661034" cy="6999539"/>
          </a:xfrm>
          <a:custGeom>
            <a:avLst/>
            <a:gdLst/>
            <a:ahLst/>
            <a:cxnLst/>
            <a:rect r="r" b="b" t="t" l="l"/>
            <a:pathLst>
              <a:path h="6999539" w="7661034">
                <a:moveTo>
                  <a:pt x="0" y="0"/>
                </a:moveTo>
                <a:lnTo>
                  <a:pt x="7661034" y="0"/>
                </a:lnTo>
                <a:lnTo>
                  <a:pt x="7661034" y="6999539"/>
                </a:lnTo>
                <a:lnTo>
                  <a:pt x="0" y="6999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540685" y="6932864"/>
            <a:ext cx="677212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Loss curve at learning_Rate = 0.5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(faster convergence)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4623" y="6932864"/>
            <a:ext cx="5611788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Confusion Matrix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97.5% accuracy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 scratch implementation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0497" y="2400199"/>
            <a:ext cx="16947006" cy="3516216"/>
          </a:xfrm>
          <a:custGeom>
            <a:avLst/>
            <a:gdLst/>
            <a:ahLst/>
            <a:cxnLst/>
            <a:rect r="r" b="b" t="t" l="l"/>
            <a:pathLst>
              <a:path h="3516216" w="16947006">
                <a:moveTo>
                  <a:pt x="0" y="0"/>
                </a:moveTo>
                <a:lnTo>
                  <a:pt x="16947006" y="0"/>
                </a:lnTo>
                <a:lnTo>
                  <a:pt x="16947006" y="3516215"/>
                </a:lnTo>
                <a:lnTo>
                  <a:pt x="0" y="35162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9879" y="933704"/>
            <a:ext cx="659889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Misclassified images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3529" y="6307417"/>
            <a:ext cx="16580941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images that were misclassified by the model contain ambiguity as we can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see in the images themselves, as a ‘7’ with a curve that goes too down can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confuse to model to assume that it’s a ‘9’. Similar ambiguity can be seen in other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images. This shows that our model is working good on normal images.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5945" y="1047869"/>
            <a:ext cx="756270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Scratch Implementaion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53301" y="1047869"/>
            <a:ext cx="89537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Framework Implementation</a:t>
            </a:r>
          </a:p>
        </p:txBody>
      </p:sp>
      <p:sp>
        <p:nvSpPr>
          <p:cNvPr name="AutoShape 4" id="4"/>
          <p:cNvSpPr/>
          <p:nvPr/>
        </p:nvSpPr>
        <p:spPr>
          <a:xfrm>
            <a:off x="8590974" y="1143119"/>
            <a:ext cx="0" cy="811518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31219" y="2340885"/>
            <a:ext cx="524262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Max accuracy: 98.0556 %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Most of the time: ~97.5%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01330" y="2384065"/>
            <a:ext cx="5245373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Max accuracy: 98.33%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Most of the time: ~97.78%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2384" y="3933804"/>
            <a:ext cx="383344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More lines of code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01330" y="3933804"/>
            <a:ext cx="584812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 to 3 times less line of code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1219" y="4923769"/>
            <a:ext cx="561967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 optimization untill  self-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implemented from scratch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01330" y="4880590"/>
            <a:ext cx="848667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Automatic optimization in many ways,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training, in data handling, in calculation, etc.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1219" y="6594455"/>
            <a:ext cx="473385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Less memory efficient.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01330" y="6877685"/>
            <a:ext cx="8105694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More memory efficient because of optimized code and implementation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5945" y="7434580"/>
            <a:ext cx="7786836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implementation is made for only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type of model, with crossentropy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loss, relu and softmax activation.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01330" y="8277225"/>
            <a:ext cx="757817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Works for all types of activation and 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loss function with better options.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4819967"/>
            <a:ext cx="18288000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framework 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didn't do anything conceptually different — it automated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exact same chain-rule computations, which is why doing it by hand first made the framework version make sense rather than feel like magic.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~Some LLM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87156" y="1890809"/>
            <a:ext cx="8913688" cy="186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59"/>
              </a:lnSpc>
            </a:pPr>
            <a:r>
              <a:rPr lang="en-US" sz="108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DAHVrD8XyOE</dc:identifier>
  <dcterms:modified xsi:type="dcterms:W3CDTF">2011-08-01T06:04:30Z</dcterms:modified>
  <cp:revision>1</cp:revision>
  <dc:title>Neural Network Implementation</dc:title>
</cp:coreProperties>
</file>